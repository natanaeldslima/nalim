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10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98F10-32C2-FF75-9F79-6348BF555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FEF6C-E19D-5546-945E-6FD2DE454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8C919B-A599-5BE8-F1A6-A25AC42F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8DBE60-7D3C-2E16-EFCE-DD90CD9A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B62A3D-A933-845A-8172-DB7A596F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0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A742F-0264-FAA0-6DDC-EA60BA54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F37E02-C41C-7F17-4983-89F472CF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DE9CEA-068A-8F9D-3880-1E331896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D8D47-5106-0EB1-B0DB-BC08DEC0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E81F93-D73F-837C-82AB-D9EE9BB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05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25E8E-BB3C-8F36-7C74-0EC32F102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9A2399-781B-8C00-C354-802CAB9C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A867DD-7F41-FE15-32BA-CA114FD0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C96FC9-CBF8-2ADC-FC35-9EB8DB7D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2FA853-3DC4-3E09-C245-86640D37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20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62329-60C4-1035-7C53-81802AFF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78E5D-18D9-C9B1-08A5-B32064FE1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E2148B-B421-0264-BF42-F1C2E7159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BAD578-7F64-931B-2CBE-BCA07A99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52F9BD-F7E3-2687-C1A4-7FB64F5B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4E71B-B146-F645-EE86-555FF65D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18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45907-B076-5F05-88B0-6A9D3261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826149-309D-C9DA-1829-5BC77E89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90312C-CD79-EE05-F875-F327F799C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842CE0-703F-9638-0F92-BD32680C6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B8F12B-F022-3723-121C-139804706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787279-DCBE-3D45-2FC5-D09EEAC3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D20785-CF47-A611-2CC3-2CBF744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157D5B-EA2D-9560-670D-037E4212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53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9FD78-3C13-C164-A52D-BF19CC09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807071-7B82-F101-A012-6F4A0C84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ACF78E-103A-5015-136D-878E4931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E78E1C-1360-63AA-8A11-7AE85204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28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9B38BD-BCBE-5B5D-967F-846E0418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7FDC73-7AEF-99F8-8C64-A0694E88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072981-3292-2B6E-E7C5-B84498D3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B12D0-3D42-69EC-77E4-23144B0D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9563A3-F071-5E84-D74A-BE719D68D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122FEB-E36B-7CC4-D64C-E5B377D95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FAE8E4-D5A0-C460-977E-0BE109D40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95BE83-29C9-2C5D-B9D6-59769FC0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DAF138-81FB-20F8-6F4E-927D00B0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16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A3559-6CF9-7318-3059-C2B0BF1E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A6B1566-984C-CA69-8327-21C6C4DD8F3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31E61C-1AD9-595E-99CC-5F695C514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BAAA9B-7E8F-FE1D-5BFC-BDB9C9EE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1753CA-0740-8454-F5CE-176B4AD4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BF2603-C246-962A-C943-9642F30D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26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24DE3-9938-298F-3D26-9F087E99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F9994F-6B93-6EAD-4E4A-9E0A6C8D0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39A006-3E0C-E388-2C1A-76A9D6DF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B87694-7994-2F93-C709-E8E70B90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6B317F-D2F5-A632-DF5C-5CC66577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36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DD3B91-7F00-AA3B-10C1-A85655D0B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36F8F3-F5D6-87E9-DC69-B77F90093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CE9A9B-C18F-0785-8AF0-F0951937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E8C814-92BD-B0ED-6E7A-7B23C0BF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259D98-EEB6-2A86-1808-FDD82B32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82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01F84D-BB3B-AAEA-B284-0B8728F8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3002AF-96E5-2367-594D-87E00C449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44A2B1-436E-B29A-07EF-56053F770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907D-25AC-4D27-8037-2C234A5F40DB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7625D-DFF7-D2DA-3268-435B688C6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8A74DF-C666-BF95-99EF-79D338F4F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9FD16-3F31-4F1F-A94F-C42F11BBE9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55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655589-57DE-F45E-8D6D-34004E0611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CB3017-5D36-53C5-7FC9-BD7660D0523F}"/>
              </a:ext>
            </a:extLst>
          </p:cNvPr>
          <p:cNvSpPr/>
          <p:nvPr/>
        </p:nvSpPr>
        <p:spPr>
          <a:xfrm>
            <a:off x="635000" y="1143000"/>
            <a:ext cx="3556000" cy="406400"/>
          </a:xfrm>
          <a:prstGeom prst="rect">
            <a:avLst/>
          </a:prstGeom>
          <a:solidFill>
            <a:srgbClr val="064E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>
                <a:solidFill>
                  <a:srgbClr val="A7F3D0"/>
                </a:solidFill>
                <a:latin typeface="Segoe UI" panose="020B0502040204020203" pitchFamily="34" charset="0"/>
              </a:rPr>
              <a:t>SISTEMA NALIM FOOD SERVICE 2026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06DD18-6553-2C96-AF1E-7790B79D4958}"/>
              </a:ext>
            </a:extLst>
          </p:cNvPr>
          <p:cNvSpPr txBox="1"/>
          <p:nvPr/>
        </p:nvSpPr>
        <p:spPr>
          <a:xfrm>
            <a:off x="635000" y="1778000"/>
            <a:ext cx="10922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400" b="1">
                <a:solidFill>
                  <a:srgbClr val="FFFFFF"/>
                </a:solidFill>
                <a:latin typeface="Segoe UI" panose="020B0502040204020203" pitchFamily="34" charset="0"/>
              </a:rPr>
              <a:t>Gestao Operacional e Lucro Real
para Restaurantes e Hamburguerias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5A0FB5-E205-F191-B8B0-890060419119}"/>
              </a:ext>
            </a:extLst>
          </p:cNvPr>
          <p:cNvSpPr txBox="1"/>
          <p:nvPr/>
        </p:nvSpPr>
        <p:spPr>
          <a:xfrm>
            <a:off x="635000" y="3556000"/>
            <a:ext cx="1041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500">
                <a:solidFill>
                  <a:srgbClr val="CBD5E1"/>
                </a:solidFill>
                <a:latin typeface="Segoe UI" panose="020B0502040204020203" pitchFamily="34" charset="0"/>
              </a:rPr>
              <a:t>Pare de apenas faturar alto e comece a ver o dinheiro sobrando no seu bolso:
controle o salao, o KDS da cozinha e a previsao de caixa em uma unica plataforma integrada.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CF0585-A1F2-5550-10FC-C9870659ABC8}"/>
              </a:ext>
            </a:extLst>
          </p:cNvPr>
          <p:cNvSpPr/>
          <p:nvPr/>
        </p:nvSpPr>
        <p:spPr>
          <a:xfrm>
            <a:off x="635000" y="5334000"/>
            <a:ext cx="10922000" cy="76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34D399"/>
                </a:solidFill>
                <a:latin typeface="Segoe UI" panose="020B0502040204020203" pitchFamily="34" charset="0"/>
              </a:rPr>
              <a:t>[*] Garcom Mobile com Push no Bolso    [*] Cozinha KDS sem Papel    [*] CMV Automatico    [*] Previsao de Caixa 21 Dias</a:t>
            </a:r>
          </a:p>
        </p:txBody>
      </p:sp>
    </p:spTree>
    <p:extLst>
      <p:ext uri="{BB962C8B-B14F-4D97-AF65-F5344CB8AC3E}">
        <p14:creationId xmlns:p14="http://schemas.microsoft.com/office/powerpoint/2010/main" val="79613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0D7A328-10AF-4589-B30D-77B781CCA962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DIAGNOSTICO DE MERCADO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6830E5-1018-354F-FEFB-2F89D548981E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Onde o Dono de Restaurante Perde Dinheiro Todo Mes?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3DB16E-0BD3-624D-6EF0-5C9FBE5C3060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 maioria dos empresarios do food service trabalha 14 horas por dia, mas enfrenta 5 armadilhas invisiveis: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8DF183-DF33-B656-BC7D-728450648CC5}"/>
              </a:ext>
            </a:extLst>
          </p:cNvPr>
          <p:cNvSpPr/>
          <p:nvPr/>
        </p:nvSpPr>
        <p:spPr>
          <a:xfrm>
            <a:off x="635000" y="1905000"/>
            <a:ext cx="20828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E11D48"/>
                </a:solidFill>
                <a:latin typeface="Segoe UI" panose="020B0502040204020203" pitchFamily="34" charset="0"/>
              </a:rPr>
              <a:t>1
Ilusao do Faturamento
Sabe quanto passou na maquina, mas nao sabe o Lucro Real apos descontar taxas do iFood (ate 27%) e taxas de cartao.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B9A6BB-D971-90AD-6007-EBF9B7AB76CF}"/>
              </a:ext>
            </a:extLst>
          </p:cNvPr>
          <p:cNvSpPr/>
          <p:nvPr/>
        </p:nvSpPr>
        <p:spPr>
          <a:xfrm>
            <a:off x="2844800" y="1905000"/>
            <a:ext cx="20828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E11D48"/>
                </a:solidFill>
                <a:latin typeface="Segoe UI" panose="020B0502040204020203" pitchFamily="34" charset="0"/>
              </a:rPr>
              <a:t>2
Surpresas nos Boletos
Boletos de aluguel, energia e insumos vencem sem previsao clara de liquidez nos dias dos repasses semanais dos apps.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4FB6F4-63C0-56B5-676C-CE96F7C89E85}"/>
              </a:ext>
            </a:extLst>
          </p:cNvPr>
          <p:cNvSpPr/>
          <p:nvPr/>
        </p:nvSpPr>
        <p:spPr>
          <a:xfrm>
            <a:off x="5054600" y="1905000"/>
            <a:ext cx="20828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E11D48"/>
                </a:solidFill>
                <a:latin typeface="Segoe UI" panose="020B0502040204020203" pitchFamily="34" charset="0"/>
              </a:rPr>
              <a:t>3
Gargalo Salao x Cozinha
Comandas de papel perdidas, comida esfriando na chapa e garcons sem saber quando o pedido esta pronto.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6DD051-523E-D463-AAFF-F3C3BDD1151F}"/>
              </a:ext>
            </a:extLst>
          </p:cNvPr>
          <p:cNvSpPr/>
          <p:nvPr/>
        </p:nvSpPr>
        <p:spPr>
          <a:xfrm>
            <a:off x="7264400" y="1905000"/>
            <a:ext cx="20828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E11D48"/>
                </a:solidFill>
                <a:latin typeface="Segoe UI" panose="020B0502040204020203" pitchFamily="34" charset="0"/>
              </a:rPr>
              <a:t>4
Custo Alto de Hardware
Sistemas legados exigem comprar maquininhas ou tablets caros (R$ 800+ cada) para cada garcom da equipe.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0E53F4-BCD1-FDC7-5B6F-8F9EA20C0C60}"/>
              </a:ext>
            </a:extLst>
          </p:cNvPr>
          <p:cNvSpPr/>
          <p:nvPr/>
        </p:nvSpPr>
        <p:spPr>
          <a:xfrm>
            <a:off x="9474200" y="1905000"/>
            <a:ext cx="20828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>
                <a:solidFill>
                  <a:srgbClr val="E11D48"/>
                </a:solidFill>
                <a:latin typeface="Segoe UI" panose="020B0502040204020203" pitchFamily="34" charset="0"/>
              </a:rPr>
              <a:t>5
Desperdicio sem Controle
Insumos nobres (carnes, queijos, bacon) sao descartados sem ficha tecnica e sem calculo do impacto no DRE.</a:t>
            </a:r>
          </a:p>
        </p:txBody>
      </p:sp>
    </p:spTree>
    <p:extLst>
      <p:ext uri="{BB962C8B-B14F-4D97-AF65-F5344CB8AC3E}">
        <p14:creationId xmlns:p14="http://schemas.microsoft.com/office/powerpoint/2010/main" val="372286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79B953-956D-5D6B-F4AD-8FA7FE9FB481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A SOLUCAO COMPLETA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F90340-94C2-FF56-1AAD-250B6025DC6D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O Ecossistema Integrado NALIM Food Service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6E6EFEA-680B-1C2E-00E7-3DB69569B205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Tudo o que seu restaurante precisa para operar com agilidade maxima e controle financeiro absoluto.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750826-18F2-A34F-472A-575566D7CC67}"/>
              </a:ext>
            </a:extLst>
          </p:cNvPr>
          <p:cNvSpPr/>
          <p:nvPr/>
        </p:nvSpPr>
        <p:spPr>
          <a:xfrm>
            <a:off x="635000" y="1905000"/>
            <a:ext cx="26162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059669"/>
                </a:solidFill>
                <a:latin typeface="Segoe UI" panose="020B0502040204020203" pitchFamily="34" charset="0"/>
              </a:rPr>
              <a:t>PILAR 1
Garcom Mobile Conectado
Comanda digital no proprio celular do garcom. Recebe notificacao push no bolso mesmo com a tela bloqueada.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1F6BEE-16B9-2FE4-5F58-390BD2CBD98F}"/>
              </a:ext>
            </a:extLst>
          </p:cNvPr>
          <p:cNvSpPr/>
          <p:nvPr/>
        </p:nvSpPr>
        <p:spPr>
          <a:xfrm>
            <a:off x="3403600" y="1905000"/>
            <a:ext cx="26162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D97706"/>
                </a:solidFill>
                <a:latin typeface="Segoe UI" panose="020B0502040204020203" pitchFamily="34" charset="0"/>
              </a:rPr>
              <a:t>PILAR 2
Cozinha KDS Sem Papel
Monitor interativo na chapa com tempos de preparo (Na Chapa -&gt; Pronto). Dispara aviso sonoro imediato ao garcom.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96170B-FC1A-E4C0-A069-C23501059A3D}"/>
              </a:ext>
            </a:extLst>
          </p:cNvPr>
          <p:cNvSpPr/>
          <p:nvPr/>
        </p:nvSpPr>
        <p:spPr>
          <a:xfrm>
            <a:off x="6172200" y="1905000"/>
            <a:ext cx="26162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7E22CE"/>
                </a:solidFill>
                <a:latin typeface="Segoe UI" panose="020B0502040204020203" pitchFamily="34" charset="0"/>
              </a:rPr>
              <a:t>PILAR 3
CMV Real e Fichas Tecnicas
Custo grama a grama de cada produto. Atualizacao automatica a cada venda realizada no balcao ou salao.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603A3FA-4D41-976C-CB43-467E5E6AD933}"/>
              </a:ext>
            </a:extLst>
          </p:cNvPr>
          <p:cNvSpPr/>
          <p:nvPr/>
        </p:nvSpPr>
        <p:spPr>
          <a:xfrm>
            <a:off x="8940800" y="1905000"/>
            <a:ext cx="26162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059669"/>
                </a:solidFill>
                <a:latin typeface="Segoe UI" panose="020B0502040204020203" pitchFamily="34" charset="0"/>
              </a:rPr>
              <a:t>PILAR 4
Previsao de Caixa 21 Dias
Calendario financeiro que antecipa repasses do iFood (quartas) e provisiona boletos fixos nas datas de vencimento.</a:t>
            </a:r>
          </a:p>
        </p:txBody>
      </p:sp>
    </p:spTree>
    <p:extLst>
      <p:ext uri="{BB962C8B-B14F-4D97-AF65-F5344CB8AC3E}">
        <p14:creationId xmlns:p14="http://schemas.microsoft.com/office/powerpoint/2010/main" val="117633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FEA34F-081F-9C64-2BA5-30E97C040D60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VISAO DE LUCRO REAL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D66C1-7426-728E-072C-BEB85FADEA0B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Saude Financeira: Saiba Exatamente Quanto Sobra no Bolso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A4ABA91-0352-9F69-3CDF-D926E7E49ED9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Enquanto os outros sistemas so mostram quanto vendeu, o NALIM calcula a sua margem liquida real a cada pedido.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440BE46-8CB6-7D6A-94AB-20C8C1855F69}"/>
              </a:ext>
            </a:extLst>
          </p:cNvPr>
          <p:cNvSpPr/>
          <p:nvPr/>
        </p:nvSpPr>
        <p:spPr>
          <a:xfrm>
            <a:off x="635000" y="1905000"/>
            <a:ext cx="6096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059669"/>
                </a:solidFill>
                <a:latin typeface="Segoe UI" panose="020B0502040204020203" pitchFamily="34" charset="0"/>
              </a:rPr>
              <a:t>Demonstrativo de Resultado (DRE) em Tempo Real
(+) Faturamento Bruto (Salao + Balcao + iFood)
(-) Taxas de Cartao e Comissoes dos Canais
(-) Custo de Mercadorias Vendidas (CMV dos Ingredientes)
(=) LUCRO BRUTO OPERACIONAL (Margem Real)
(-) Custos Fixos do Mes (Aluguel, Luz, Gas, Equipe, Pro-Labore)
(-) Perdas e Desperdicios Registrados na Cozinha
(=) LUCRO LIQUIDO REAL NO SEU BOLSO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FF812A-D901-42F7-3CDA-A2D4EB25F1D3}"/>
              </a:ext>
            </a:extLst>
          </p:cNvPr>
          <p:cNvSpPr/>
          <p:nvPr/>
        </p:nvSpPr>
        <p:spPr>
          <a:xfrm>
            <a:off x="6985000" y="1905000"/>
            <a:ext cx="4572000" cy="196850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064E3B"/>
                </a:solidFill>
                <a:latin typeface="Segoe UI" panose="020B0502040204020203" pitchFamily="34" charset="0"/>
              </a:rPr>
              <a:t>Ponto de Equilibrio (Break-Even Diario)
O sistema calcula automaticamente quantos hamburgueres ou quantos R$ por dia o restaurante precisa faturar apenas para pagar os custos fixos. Tudo o que vender acima disso e lucro puro.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2136CC0-A2C0-3D3B-0B31-A0F668F42FEE}"/>
              </a:ext>
            </a:extLst>
          </p:cNvPr>
          <p:cNvSpPr/>
          <p:nvPr/>
        </p:nvSpPr>
        <p:spPr>
          <a:xfrm>
            <a:off x="6985000" y="4127500"/>
            <a:ext cx="4572000" cy="1968500"/>
          </a:xfrm>
          <a:prstGeom prst="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78350F"/>
                </a:solidFill>
                <a:latin typeface="Segoe UI" panose="020B0502040204020203" pitchFamily="34" charset="0"/>
              </a:rPr>
              <a:t>Fechamento de Caixa com Conferencia Cega
O operador fecha o turno declarando os valores fisicos sem ver o total do sistema. O gerente faz o confronto cego de PIX, Cartao e Dinheiro, eliminando de vez furos e desvios de caixa.</a:t>
            </a:r>
          </a:p>
        </p:txBody>
      </p:sp>
    </p:spTree>
    <p:extLst>
      <p:ext uri="{BB962C8B-B14F-4D97-AF65-F5344CB8AC3E}">
        <p14:creationId xmlns:p14="http://schemas.microsoft.com/office/powerpoint/2010/main" val="362322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081029-C835-5D9D-0F98-097207D1A379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FLUXO DE CAIXA PREDITIVO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A312C6-9C69-D2E8-9772-731E2FB83F87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Previsao de Caixa de 21 Dias: Diga Adeus as Surpresas de Boletos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70E1E0-5102-8069-25B8-320D9C921747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Planejamento visual de liquidez: veja o saldo projetado de cada dia combinando entradas de apps e vencimentos.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9B77A42-B5F9-E034-896C-6B731CA54941}"/>
              </a:ext>
            </a:extLst>
          </p:cNvPr>
          <p:cNvSpPr/>
          <p:nvPr/>
        </p:nvSpPr>
        <p:spPr>
          <a:xfrm>
            <a:off x="635000" y="1905000"/>
            <a:ext cx="3429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7E22CE"/>
                </a:solidFill>
                <a:latin typeface="Segoe UI" panose="020B0502040204020203" pitchFamily="34" charset="0"/>
              </a:rPr>
              <a:t>Repasse Semanal dos Apps
O sistema sabe que toda quarta-feira entra o repasse acumulado das vendas do iFood e 99Food.
Essa entrada robusta e projetada automaticamente no calendario, mostrando exatamente quando o caixa da empresa ganha folego para honrar despesas.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1689AF-2350-B666-02B4-E09BE2F2EC7E}"/>
              </a:ext>
            </a:extLst>
          </p:cNvPr>
          <p:cNvSpPr/>
          <p:nvPr/>
        </p:nvSpPr>
        <p:spPr>
          <a:xfrm>
            <a:off x="4381500" y="1905000"/>
            <a:ext cx="3429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059669"/>
                </a:solidFill>
                <a:latin typeface="Segoe UI" panose="020B0502040204020203" pitchFamily="34" charset="0"/>
              </a:rPr>
              <a:t>Boletos de Custos Fixos
Cadastre a data de vencimento de cada conta: Aluguel (dia 10), Energia (dia 12), Contabilidade (dia 15).
Os boletos entram automaticamente como saidas previstas na data exata, abatendo do saldo projetado sem precisar digitar duas vezes.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44993A-4917-A9EF-BE48-BD5E05FABCE1}"/>
              </a:ext>
            </a:extLst>
          </p:cNvPr>
          <p:cNvSpPr/>
          <p:nvPr/>
        </p:nvSpPr>
        <p:spPr>
          <a:xfrm>
            <a:off x="8128000" y="1905000"/>
            <a:ext cx="3429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E11D48"/>
                </a:solidFill>
                <a:latin typeface="Segoe UI" panose="020B0502040204020203" pitchFamily="34" charset="0"/>
              </a:rPr>
              <a:t>Alerta Previo de Liquidez
Se em algum dia das proximas 3 semanas a soma dos boletos superar as entradas, o sistema emite um Alerta de Liquidez em vermelho.
Voce descobre o deficit com dias de antecedencia para negociar prazos com fornecedores antes de pagar multas ou juros bancarios.</a:t>
            </a:r>
          </a:p>
        </p:txBody>
      </p:sp>
    </p:spTree>
    <p:extLst>
      <p:ext uri="{BB962C8B-B14F-4D97-AF65-F5344CB8AC3E}">
        <p14:creationId xmlns:p14="http://schemas.microsoft.com/office/powerpoint/2010/main" val="429472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14A490-3D4C-BBBA-45E3-3282C3A7FFD7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VELOCIDADE DE ATENDIMENTO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847716-FBDE-36E4-8ED3-9EEEABD195C2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Salao e Cozinha 100% Sincronizados em Tempo Real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C2250F-BA9B-8CFF-9D6F-43B0F3DD28F5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Elimine pedidos esquecidos, gritaria na chapa e comida esfriando no balcao com tecnologia Web Push exclusiva.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81C0E2D-5C4F-73F5-4502-05405BCF374F}"/>
              </a:ext>
            </a:extLst>
          </p:cNvPr>
          <p:cNvSpPr/>
          <p:nvPr/>
        </p:nvSpPr>
        <p:spPr>
          <a:xfrm>
            <a:off x="635000" y="1905000"/>
            <a:ext cx="5334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059669"/>
                </a:solidFill>
                <a:latin typeface="Segoe UI" panose="020B0502040204020203" pitchFamily="34" charset="0"/>
              </a:rPr>
              <a:t>Aplicativo do Garcom (Comanda Digital)
- Zero Gasto com Aparelhos: Funciona em qualquer smartphone Android que o garcom ja possui.
- Web Push Exclusivo: Quando a cozinha aperta Pronto, o celular do garcom toca e vibra no bolso mesmo com a tela apagada.
- Mapa de Mesas Vivo: Mostra na hora quais mesas estao livres, ocupadas ou com comida pronta esperando retirada.
- Adicionais e Observacoes: Personalize pratos (+ bacon, sem cebola) com dois toques.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C1383A-1FE2-E2F4-37DE-46C1475DDB1C}"/>
              </a:ext>
            </a:extLst>
          </p:cNvPr>
          <p:cNvSpPr/>
          <p:nvPr/>
        </p:nvSpPr>
        <p:spPr>
          <a:xfrm>
            <a:off x="6223000" y="1905000"/>
            <a:ext cx="5334000" cy="419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D97706"/>
                </a:solidFill>
                <a:latin typeface="Segoe UI" panose="020B0502040204020203" pitchFamily="34" charset="0"/>
              </a:rPr>
              <a:t>KDS Cozinha Digital (Sem Papel)
- Adeus Comandas de Papel: Chega de papeis perdidos, molhados ou manchados de gordura na chapa.
- Fluxo Visual Rapido: Fases claras de preparo: Na Chapa -&gt; Pronto -&gt; Entregue.
- Controle de Tempo de Espera: Cronometro por pedido para garantir que nenhum cliente espere mais do que o combinado.
- 1 Toque Dispara o Alerta: O chapeiro clica em Pronto e o garcom responsavel ja recolhe na hora.</a:t>
            </a:r>
          </a:p>
        </p:txBody>
      </p:sp>
    </p:spTree>
    <p:extLst>
      <p:ext uri="{BB962C8B-B14F-4D97-AF65-F5344CB8AC3E}">
        <p14:creationId xmlns:p14="http://schemas.microsoft.com/office/powerpoint/2010/main" val="4144719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EFA165-E157-7F11-49F0-7D1093575771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DIFERENCIAL COMPETITIVO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6DBA18-88D3-E0F8-BEDD-680442B17146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Por que o NALIM Supera os Sistemas Tradicionais?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E38F6AA-0CFC-47B3-BC64-DE401FDD3075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Compare os custos, a tecnologia e os recursos com softwares legados do mercado: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66BA359-9BED-5C91-11DC-1DEC0186F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70718"/>
              </p:ext>
            </p:extLst>
          </p:nvPr>
        </p:nvGraphicFramePr>
        <p:xfrm>
          <a:off x="635000" y="1905000"/>
          <a:ext cx="10922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11381144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5539386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679755954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RECURSO / FUNCIONALIDADE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SISTEMAS TRADICIONAIS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NALIM FOOD SERVICE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4296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Custo de Aparelhos (Hardware)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Exige terminais/POS pagos (R$ 800+ cada)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059669"/>
                          </a:solidFill>
                          <a:latin typeface="Segoe UI" panose="020B0502040204020203" pitchFamily="34" charset="0"/>
                        </a:rPr>
                        <a:t>R$ 0 (Usa o celular comum da equipe)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47430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Push no Celular com Tela Apagada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Nao possui (Apenas som com app aberto)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059669"/>
                          </a:solidFill>
                          <a:latin typeface="Segoe UI" panose="020B0502040204020203" pitchFamily="34" charset="0"/>
                        </a:rPr>
                        <a:t>Sim (Web Push VAPID com som e vibracao)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9831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Previsao de Caixa com Repasses Apps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Cobrado a parte em modulos caros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059669"/>
                          </a:solidFill>
                          <a:latin typeface="Segoe UI" panose="020B0502040204020203" pitchFamily="34" charset="0"/>
                        </a:rPr>
                        <a:t>Incluso (Calendario 21 dias com iFood/99)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29337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CMV Real e Fichas Tecnicas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Complexo ou inexistente na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059669"/>
                          </a:solidFill>
                          <a:latin typeface="Segoe UI" panose="020B0502040204020203" pitchFamily="34" charset="0"/>
                        </a:rPr>
                        <a:t>Automatico e integrado a cada venda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3214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Comissao sobre Pedidos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Cobram 1% a 3% do faturamento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>
                          <a:solidFill>
                            <a:srgbClr val="059669"/>
                          </a:solidFill>
                          <a:latin typeface="Segoe UI" panose="020B0502040204020203" pitchFamily="34" charset="0"/>
                        </a:rPr>
                        <a:t>0% de comissao (Mensalidade 100% fixa)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67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07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B91BAE-5C26-6256-7728-CB12ED92A843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RETORNO GARANTIDO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FD4DC1-291C-605E-3C56-406873EBE596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Quanto Dinheiro o NALIM Devolve para o Restaurante?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BBD1B0-2C13-7552-1041-0BDAAD0B4D2F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Exemplo pratico de uma hamburgueria que fatura R$ 45.000,00 por mes: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36AB53-60DB-46E1-3BE1-978BE9BE93F6}"/>
              </a:ext>
            </a:extLst>
          </p:cNvPr>
          <p:cNvSpPr/>
          <p:nvPr/>
        </p:nvSpPr>
        <p:spPr>
          <a:xfrm>
            <a:off x="635000" y="1905000"/>
            <a:ext cx="26162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0F172A"/>
                </a:solidFill>
                <a:latin typeface="Segoe UI" panose="020B0502040204020203" pitchFamily="34" charset="0"/>
              </a:rPr>
              <a:t>Reducao de 3% no Desperdicio
Fichas tecnicas precisas e registro de perdas evitam desperdicio de insumos nobres.
+ R$ 1.350 /mes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0135B1-468C-AF2B-114C-45231CF707AE}"/>
              </a:ext>
            </a:extLst>
          </p:cNvPr>
          <p:cNvSpPr/>
          <p:nvPr/>
        </p:nvSpPr>
        <p:spPr>
          <a:xfrm>
            <a:off x="3403600" y="1905000"/>
            <a:ext cx="26162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0F172A"/>
                </a:solidFill>
                <a:latin typeface="Segoe UI" panose="020B0502040204020203" pitchFamily="34" charset="0"/>
              </a:rPr>
              <a:t>Migracao de 15% para Delivery Proprio
Migrar clientes fieis do iFood para o cardapio proprio economiza taxas de comissao.
+ R$ 1.080 /mes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8769D6-EBEC-5D13-0C24-8CD9AFB56B80}"/>
              </a:ext>
            </a:extLst>
          </p:cNvPr>
          <p:cNvSpPr/>
          <p:nvPr/>
        </p:nvSpPr>
        <p:spPr>
          <a:xfrm>
            <a:off x="6172200" y="1905000"/>
            <a:ext cx="26162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0F172A"/>
                </a:solidFill>
                <a:latin typeface="Segoe UI" panose="020B0502040204020203" pitchFamily="34" charset="0"/>
              </a:rPr>
              <a:t>Economia de Hardware para 3 Garcons
Sem necessidade de comprar maquininhas dedicadas de R$ 800 para cada operador.
+ R$ 2.400 (imediato)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F814AB-F6E1-D875-899F-87C6DFF17A1A}"/>
              </a:ext>
            </a:extLst>
          </p:cNvPr>
          <p:cNvSpPr/>
          <p:nvPr/>
        </p:nvSpPr>
        <p:spPr>
          <a:xfrm>
            <a:off x="8940800" y="1905000"/>
            <a:ext cx="26162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0F172A"/>
                </a:solidFill>
                <a:latin typeface="Segoe UI" panose="020B0502040204020203" pitchFamily="34" charset="0"/>
              </a:rPr>
              <a:t>Giro Rapido de Mesas no Salao
Avisos instantaneos reduzem tempo ocioso das mesas e aumentam capacidade em 10%.
+ R$ 2.200 /mes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7654CC-7BBA-61B8-11FE-FE7EFC30B282}"/>
              </a:ext>
            </a:extLst>
          </p:cNvPr>
          <p:cNvSpPr/>
          <p:nvPr/>
        </p:nvSpPr>
        <p:spPr>
          <a:xfrm>
            <a:off x="635000" y="5080000"/>
            <a:ext cx="10922000" cy="1016000"/>
          </a:xfrm>
          <a:prstGeom prst="rect">
            <a:avLst/>
          </a:prstGeom>
          <a:solidFill>
            <a:srgbClr val="064E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RESULTADO LIQUIDO: O NALIM se paga nos primeiros 7 a 10 dias do mes!
Todo o restante vira dinheiro no bolso do dono e tranquilidade na operacao.</a:t>
            </a:r>
          </a:p>
        </p:txBody>
      </p:sp>
    </p:spTree>
    <p:extLst>
      <p:ext uri="{BB962C8B-B14F-4D97-AF65-F5344CB8AC3E}">
        <p14:creationId xmlns:p14="http://schemas.microsoft.com/office/powerpoint/2010/main" val="180222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562C9DE-ECF9-AEB5-B7FF-EBBC3CEF9CE4}"/>
              </a:ext>
            </a:extLst>
          </p:cNvPr>
          <p:cNvSpPr txBox="1"/>
          <p:nvPr/>
        </p:nvSpPr>
        <p:spPr>
          <a:xfrm>
            <a:off x="635000" y="381000"/>
            <a:ext cx="10922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000" b="1">
                <a:solidFill>
                  <a:srgbClr val="059669"/>
                </a:solidFill>
                <a:latin typeface="Segoe UI" panose="020B0502040204020203" pitchFamily="34" charset="0"/>
              </a:rPr>
              <a:t>INVESTIMENTO PREVISIVEL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F788ED-E5FE-5316-CCF2-8488A8D085C7}"/>
              </a:ext>
            </a:extLst>
          </p:cNvPr>
          <p:cNvSpPr txBox="1"/>
          <p:nvPr/>
        </p:nvSpPr>
        <p:spPr>
          <a:xfrm>
            <a:off x="635000" y="660400"/>
            <a:ext cx="10922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0F172A"/>
                </a:solidFill>
                <a:latin typeface="Segoe UI" panose="020B0502040204020203" pitchFamily="34" charset="0"/>
              </a:rPr>
              <a:t>Planos Flexiveis e Sem Contrato de Fidelidade Abusivo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D8863F-4744-0DAB-69A1-72EEAAB052B1}"/>
              </a:ext>
            </a:extLst>
          </p:cNvPr>
          <p:cNvSpPr txBox="1"/>
          <p:nvPr/>
        </p:nvSpPr>
        <p:spPr>
          <a:xfrm>
            <a:off x="635000" y="1168400"/>
            <a:ext cx="10922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Escolha a modalidade que melhor atende o estagio atual da sua operacao: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1363B9-1DA0-60CF-176C-D2C05067D6EB}"/>
              </a:ext>
            </a:extLst>
          </p:cNvPr>
          <p:cNvSpPr/>
          <p:nvPr/>
        </p:nvSpPr>
        <p:spPr>
          <a:xfrm>
            <a:off x="635000" y="1905000"/>
            <a:ext cx="34925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0F172A"/>
                </a:solidFill>
                <a:latin typeface="Segoe UI" panose="020B0502040204020203" pitchFamily="34" charset="0"/>
              </a:rPr>
              <a:t>PLANO ESSENCIAL
R$ 119/mes
Para Dark Kitchens e Balcao
- PDV Balcao e Caixa Cego
- Cardapio Digital WhatsApp
- Fechamento de Turnos
- Relatorios Basicos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03B6EB-BBF5-F207-AF8C-9299C371448E}"/>
              </a:ext>
            </a:extLst>
          </p:cNvPr>
          <p:cNvSpPr/>
          <p:nvPr/>
        </p:nvSpPr>
        <p:spPr>
          <a:xfrm>
            <a:off x="4381500" y="1905000"/>
            <a:ext cx="34925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059669"/>
                </a:solidFill>
                <a:latin typeface="Segoe UI" panose="020B0502040204020203" pitchFamily="34" charset="0"/>
              </a:rPr>
              <a:t>PLANO PROFISSIONAL
R$ 199/mes
O Mais Vendido (Salao e Chapa)
- Tudo do Essencial
- Cozinha KDS em Tempo Real
- App Garcom ilimitado com Push
- Gestao de Mesas e Comandas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E44D1F7-22C5-B691-B32B-24EFF4C47AB3}"/>
              </a:ext>
            </a:extLst>
          </p:cNvPr>
          <p:cNvSpPr/>
          <p:nvPr/>
        </p:nvSpPr>
        <p:spPr>
          <a:xfrm>
            <a:off x="8128000" y="1905000"/>
            <a:ext cx="3492500" cy="4191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E22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7E22CE"/>
                </a:solidFill>
                <a:latin typeface="Segoe UI" panose="020B0502040204020203" pitchFamily="34" charset="0"/>
              </a:rPr>
              <a:t>PLANO GESTAO TOTAL
R$ 299/mes
Controle Financeiro Rigoroso
- Tudo do Profissional
- CMV Real e Fichas Tecnicas
- Previsao de Caixa 21 Dias
- DRE e Ponto de Equilibrio</a:t>
            </a:r>
          </a:p>
        </p:txBody>
      </p:sp>
    </p:spTree>
    <p:extLst>
      <p:ext uri="{BB962C8B-B14F-4D97-AF65-F5344CB8AC3E}">
        <p14:creationId xmlns:p14="http://schemas.microsoft.com/office/powerpoint/2010/main" val="398155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3963CCD-A646-7E8A-90F6-3FFF1D149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F19C01-BD54-564B-F08F-E4991791DB28}"/>
              </a:ext>
            </a:extLst>
          </p:cNvPr>
          <p:cNvSpPr txBox="1"/>
          <p:nvPr/>
        </p:nvSpPr>
        <p:spPr>
          <a:xfrm>
            <a:off x="635000" y="762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Segoe UI" panose="020B0502040204020203" pitchFamily="34" charset="0"/>
              </a:rPr>
              <a:t>Proximo Passo: Comece a Lucrar Mais Hoje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13D342-CD4B-AF27-4E3E-13A469A61907}"/>
              </a:ext>
            </a:extLst>
          </p:cNvPr>
          <p:cNvSpPr/>
          <p:nvPr/>
        </p:nvSpPr>
        <p:spPr>
          <a:xfrm>
            <a:off x="635000" y="1905000"/>
            <a:ext cx="10922000" cy="711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1F5F9"/>
                </a:solidFill>
                <a:latin typeface="Segoe UI" panose="020B0502040204020203" pitchFamily="34" charset="0"/>
              </a:rPr>
              <a:t>1. Demonstracao Pratica de 10 Minutos  -  Simulamos um pedido no salao e mostramos a cozinha e o celular apitando em tempo real.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2CA51EE-B842-CAFB-53AE-27CEBBE2F6C8}"/>
              </a:ext>
            </a:extLst>
          </p:cNvPr>
          <p:cNvSpPr/>
          <p:nvPr/>
        </p:nvSpPr>
        <p:spPr>
          <a:xfrm>
            <a:off x="635000" y="2794000"/>
            <a:ext cx="10922000" cy="711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1F5F9"/>
                </a:solidFill>
                <a:latin typeface="Segoe UI" panose="020B0502040204020203" pitchFamily="34" charset="0"/>
              </a:rPr>
              <a:t>2. Implantacao Assistida do seu Cardapio  -  Cadastramos suas fotos, produtos e configuramos as fichas tecnicas com voce.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01FECD3-E583-7CE5-CD46-DFB29BDA84A4}"/>
              </a:ext>
            </a:extLst>
          </p:cNvPr>
          <p:cNvSpPr/>
          <p:nvPr/>
        </p:nvSpPr>
        <p:spPr>
          <a:xfrm>
            <a:off x="635000" y="3683000"/>
            <a:ext cx="10922000" cy="711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1F5F9"/>
                </a:solidFill>
                <a:latin typeface="Segoe UI" panose="020B0502040204020203" pitchFamily="34" charset="0"/>
              </a:rPr>
              <a:t>3. Treinamento da sua Equipe  -  Em menos de 20 minutos seus garcons e chapeiros ja dominam 100% da operacao.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C4C0B8-97CB-A7DD-6AE9-397513ED434C}"/>
              </a:ext>
            </a:extLst>
          </p:cNvPr>
          <p:cNvSpPr/>
          <p:nvPr/>
        </p:nvSpPr>
        <p:spPr>
          <a:xfrm>
            <a:off x="635000" y="4572000"/>
            <a:ext cx="10922000" cy="711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1F5F9"/>
                </a:solidFill>
                <a:latin typeface="Segoe UI" panose="020B0502040204020203" pitchFamily="34" charset="0"/>
              </a:rPr>
              <a:t>4. Clareza Financeira Imediata  -  Acompanhe seu primeiro fechamento de caixa e veja sua previsao de liquidez de 21 dias.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76387E-C710-14B2-6BAF-96B1249AFA5A}"/>
              </a:ext>
            </a:extLst>
          </p:cNvPr>
          <p:cNvSpPr/>
          <p:nvPr/>
        </p:nvSpPr>
        <p:spPr>
          <a:xfrm>
            <a:off x="3810000" y="5715000"/>
            <a:ext cx="4572000" cy="635000"/>
          </a:xfrm>
          <a:prstGeom prst="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AGENDAR DEMONSTRACAO AGORA</a:t>
            </a:r>
          </a:p>
        </p:txBody>
      </p:sp>
    </p:spTree>
    <p:extLst>
      <p:ext uri="{BB962C8B-B14F-4D97-AF65-F5344CB8AC3E}">
        <p14:creationId xmlns:p14="http://schemas.microsoft.com/office/powerpoint/2010/main" val="411181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Microsoft Office PowerPoint</Application>
  <PresentationFormat>Personalizar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Natanael lima</dc:creator>
  <cp:lastModifiedBy>Natanael lima</cp:lastModifiedBy>
  <cp:revision>1</cp:revision>
  <dcterms:created xsi:type="dcterms:W3CDTF">2026-10-15T20:13:59Z</dcterms:created>
  <dcterms:modified xsi:type="dcterms:W3CDTF">2026-10-15T20:13:59Z</dcterms:modified>
</cp:coreProperties>
</file>